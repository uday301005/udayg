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6" r:id="rId5"/>
    <p:sldId id="308" r:id="rId6"/>
    <p:sldId id="309" r:id="rId7"/>
    <p:sldId id="310" r:id="rId8"/>
    <p:sldId id="311" r:id="rId9"/>
    <p:sldId id="312" r:id="rId10"/>
    <p:sldId id="313" r:id="rId11"/>
    <p:sldId id="314" r:id="rId12"/>
    <p:sldId id="315" r:id="rId13"/>
    <p:sldId id="31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A66772-F185-4D58-B8BB-E9370D7A7A2B}"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40FC4FFE-8987-4A26-B7F4-8A516F18ADAE}">
      <dgm:prSet/>
      <dgm:spPr/>
      <dgm:t>
        <a:bodyPr/>
        <a:lstStyle/>
        <a:p>
          <a:pPr>
            <a:lnSpc>
              <a:spcPct val="100000"/>
            </a:lnSpc>
            <a:defRPr cap="all"/>
          </a:pPr>
          <a:r>
            <a:rPr lang="en-IN" b="1" dirty="0"/>
            <a:t>Practicality</a:t>
          </a:r>
          <a:endParaRPr lang="en-US" b="1" dirty="0"/>
        </a:p>
      </dgm:t>
    </dgm:pt>
    <dgm:pt modelId="{CAD7EF86-FB23-41F6-BF42-040B36DEFDB1}" type="parTrans" cxnId="{C7AD8469-3C68-4AF9-AB82-79B0043AA120}">
      <dgm:prSet/>
      <dgm:spPr/>
      <dgm:t>
        <a:bodyPr/>
        <a:lstStyle/>
        <a:p>
          <a:endParaRPr lang="en-US"/>
        </a:p>
      </dgm:t>
    </dgm:pt>
    <dgm:pt modelId="{5B62599A-5C9B-48E7-896E-EA782AC60C8B}" type="sibTrans" cxnId="{C7AD8469-3C68-4AF9-AB82-79B0043AA120}">
      <dgm:prSet/>
      <dgm:spPr/>
      <dgm:t>
        <a:bodyPr/>
        <a:lstStyle/>
        <a:p>
          <a:endParaRPr lang="en-US"/>
        </a:p>
      </dgm:t>
    </dgm:pt>
    <dgm:pt modelId="{49225C73-1633-42F1-AB3B-7CB183E5F8B8}">
      <dgm:prSet/>
      <dgm:spPr/>
      <dgm:t>
        <a:bodyPr/>
        <a:lstStyle/>
        <a:p>
          <a:pPr>
            <a:lnSpc>
              <a:spcPct val="100000"/>
            </a:lnSpc>
            <a:defRPr cap="all"/>
          </a:pPr>
          <a:r>
            <a:rPr lang="en-IN" b="1" dirty="0"/>
            <a:t>Customizable</a:t>
          </a:r>
          <a:endParaRPr lang="en-US" b="1" dirty="0"/>
        </a:p>
      </dgm:t>
    </dgm:pt>
    <dgm:pt modelId="{1A0E2090-1D4F-438A-8766-B6030CE01ADD}" type="parTrans" cxnId="{A9154303-8225-4248-91DC-1B0156A35F07}">
      <dgm:prSet/>
      <dgm:spPr/>
      <dgm:t>
        <a:bodyPr/>
        <a:lstStyle/>
        <a:p>
          <a:endParaRPr lang="en-US"/>
        </a:p>
      </dgm:t>
    </dgm:pt>
    <dgm:pt modelId="{9646853A-8964-4519-A5B1-0B7D18B2983D}" type="sibTrans" cxnId="{A9154303-8225-4248-91DC-1B0156A35F07}">
      <dgm:prSet/>
      <dgm:spPr/>
      <dgm:t>
        <a:bodyPr/>
        <a:lstStyle/>
        <a:p>
          <a:endParaRPr lang="en-US"/>
        </a:p>
      </dgm:t>
    </dgm:pt>
    <dgm:pt modelId="{1C383F32-22E8-4F62-A3E0-BDC3D5F48992}">
      <dgm:prSet/>
      <dgm:spPr/>
      <dgm:t>
        <a:bodyPr/>
        <a:lstStyle/>
        <a:p>
          <a:pPr>
            <a:lnSpc>
              <a:spcPct val="100000"/>
            </a:lnSpc>
            <a:defRPr cap="all"/>
          </a:pPr>
          <a:r>
            <a:rPr lang="en-IN" b="1" dirty="0"/>
            <a:t>Visual Feedback</a:t>
          </a:r>
          <a:endParaRPr lang="en-US" dirty="0"/>
        </a:p>
      </dgm:t>
    </dgm:pt>
    <dgm:pt modelId="{A7920A2F-3244-4159-AF04-6A1D38B7B317}" type="parTrans" cxnId="{C4CCE57E-E871-46D6-BAD5-880252C95D22}">
      <dgm:prSet/>
      <dgm:spPr/>
      <dgm:t>
        <a:bodyPr/>
        <a:lstStyle/>
        <a:p>
          <a:endParaRPr lang="en-US"/>
        </a:p>
      </dgm:t>
    </dgm:pt>
    <dgm:pt modelId="{8500F72A-2C6D-4FDF-9C1D-CA691380EB0B}" type="sibTrans" cxnId="{C4CCE57E-E871-46D6-BAD5-880252C95D22}">
      <dgm:prSet/>
      <dgm:spPr/>
      <dgm:t>
        <a:bodyPr/>
        <a:lstStyle/>
        <a:p>
          <a:endParaRPr lang="en-US"/>
        </a:p>
      </dgm:t>
    </dgm:pt>
    <dgm:pt modelId="{B6056BFB-47D7-4C5F-BA11-2CB63C56A52D}" type="pres">
      <dgm:prSet presAssocID="{01A66772-F185-4D58-B8BB-E9370D7A7A2B}" presName="root" presStyleCnt="0">
        <dgm:presLayoutVars>
          <dgm:dir/>
          <dgm:resizeHandles val="exact"/>
        </dgm:presLayoutVars>
      </dgm:prSet>
      <dgm:spPr/>
    </dgm:pt>
    <dgm:pt modelId="{311B26C8-22B1-4363-B621-DD56FB7418C8}" type="pres">
      <dgm:prSet presAssocID="{40FC4FFE-8987-4A26-B7F4-8A516F18ADAE}" presName="compNode" presStyleCnt="0"/>
      <dgm:spPr/>
    </dgm:pt>
    <dgm:pt modelId="{A201D7A7-914C-4D24-8B82-EE40155AB0BE}" type="pres">
      <dgm:prSet presAssocID="{40FC4FFE-8987-4A26-B7F4-8A516F18ADAE}" presName="iconBgRect" presStyleLbl="bgShp" presStyleIdx="0" presStyleCnt="3"/>
      <dgm:spPr>
        <a:prstGeom prst="ellipse">
          <a:avLst/>
        </a:prstGeom>
      </dgm:spPr>
    </dgm:pt>
    <dgm:pt modelId="{8FA2F131-CD01-4CBD-B7A5-1B9B5E7F0402}" type="pres">
      <dgm:prSet presAssocID="{40FC4FFE-8987-4A26-B7F4-8A516F18ADAE}"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ie chart"/>
        </a:ext>
      </dgm:extLst>
    </dgm:pt>
    <dgm:pt modelId="{F755F00C-B2DB-4097-B4BC-8F1BACC938B7}" type="pres">
      <dgm:prSet presAssocID="{40FC4FFE-8987-4A26-B7F4-8A516F18ADAE}" presName="spaceRect" presStyleCnt="0"/>
      <dgm:spPr/>
    </dgm:pt>
    <dgm:pt modelId="{08F4E96D-0DB6-4476-8C51-7CC7EC2F227B}" type="pres">
      <dgm:prSet presAssocID="{40FC4FFE-8987-4A26-B7F4-8A516F18ADAE}" presName="textRect" presStyleLbl="revTx" presStyleIdx="0" presStyleCnt="3">
        <dgm:presLayoutVars>
          <dgm:chMax val="1"/>
          <dgm:chPref val="1"/>
        </dgm:presLayoutVars>
      </dgm:prSet>
      <dgm:spPr/>
    </dgm:pt>
    <dgm:pt modelId="{5AB3C10D-885E-4522-AB39-7ED4318D191A}" type="pres">
      <dgm:prSet presAssocID="{5B62599A-5C9B-48E7-896E-EA782AC60C8B}" presName="sibTrans" presStyleCnt="0"/>
      <dgm:spPr/>
    </dgm:pt>
    <dgm:pt modelId="{2F278BF9-E1B2-4A1C-B065-C19A7B904219}" type="pres">
      <dgm:prSet presAssocID="{49225C73-1633-42F1-AB3B-7CB183E5F8B8}" presName="compNode" presStyleCnt="0"/>
      <dgm:spPr/>
    </dgm:pt>
    <dgm:pt modelId="{543C18BC-1989-44B2-9862-C670C61D3452}" type="pres">
      <dgm:prSet presAssocID="{49225C73-1633-42F1-AB3B-7CB183E5F8B8}" presName="iconBgRect" presStyleLbl="bgShp" presStyleIdx="1" presStyleCnt="3"/>
      <dgm:spPr>
        <a:prstGeom prst="ellipse">
          <a:avLst/>
        </a:prstGeom>
      </dgm:spPr>
    </dgm:pt>
    <dgm:pt modelId="{E94F35BC-9C76-400A-BBCA-0032259E2E5A}" type="pres">
      <dgm:prSet presAssocID="{49225C73-1633-42F1-AB3B-7CB183E5F8B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ullseye"/>
        </a:ext>
      </dgm:extLst>
    </dgm:pt>
    <dgm:pt modelId="{503A6D04-9ADD-43CC-9847-497CD48F2D11}" type="pres">
      <dgm:prSet presAssocID="{49225C73-1633-42F1-AB3B-7CB183E5F8B8}" presName="spaceRect" presStyleCnt="0"/>
      <dgm:spPr/>
    </dgm:pt>
    <dgm:pt modelId="{20363298-B2A6-463D-A7BE-F9F67404E389}" type="pres">
      <dgm:prSet presAssocID="{49225C73-1633-42F1-AB3B-7CB183E5F8B8}" presName="textRect" presStyleLbl="revTx" presStyleIdx="1" presStyleCnt="3">
        <dgm:presLayoutVars>
          <dgm:chMax val="1"/>
          <dgm:chPref val="1"/>
        </dgm:presLayoutVars>
      </dgm:prSet>
      <dgm:spPr/>
    </dgm:pt>
    <dgm:pt modelId="{A47947BB-708D-4F7E-B072-3C2E42B34B24}" type="pres">
      <dgm:prSet presAssocID="{9646853A-8964-4519-A5B1-0B7D18B2983D}" presName="sibTrans" presStyleCnt="0"/>
      <dgm:spPr/>
    </dgm:pt>
    <dgm:pt modelId="{BDCD0AC9-D564-4025-AD8A-36664A6CBE31}" type="pres">
      <dgm:prSet presAssocID="{1C383F32-22E8-4F62-A3E0-BDC3D5F48992}" presName="compNode" presStyleCnt="0"/>
      <dgm:spPr/>
    </dgm:pt>
    <dgm:pt modelId="{5BDDFF18-9AEC-4E5E-B9AA-33D86F01A63E}" type="pres">
      <dgm:prSet presAssocID="{1C383F32-22E8-4F62-A3E0-BDC3D5F48992}" presName="iconBgRect" presStyleLbl="bgShp" presStyleIdx="2" presStyleCnt="3"/>
      <dgm:spPr>
        <a:prstGeom prst="ellipse">
          <a:avLst/>
        </a:prstGeom>
      </dgm:spPr>
    </dgm:pt>
    <dgm:pt modelId="{F09AEBFF-D2D3-4FFF-AD65-C3CEAEEB10F2}" type="pres">
      <dgm:prSet presAssocID="{1C383F32-22E8-4F62-A3E0-BDC3D5F4899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Stopwatch"/>
        </a:ext>
      </dgm:extLst>
    </dgm:pt>
    <dgm:pt modelId="{F2EBFBCF-0520-415A-A886-3C4F90D208EF}" type="pres">
      <dgm:prSet presAssocID="{1C383F32-22E8-4F62-A3E0-BDC3D5F48992}" presName="spaceRect" presStyleCnt="0"/>
      <dgm:spPr/>
    </dgm:pt>
    <dgm:pt modelId="{AB9CAFAA-6939-48A6-A89B-19D1A94B9EA1}" type="pres">
      <dgm:prSet presAssocID="{1C383F32-22E8-4F62-A3E0-BDC3D5F48992}" presName="textRect" presStyleLbl="revTx" presStyleIdx="2" presStyleCnt="3">
        <dgm:presLayoutVars>
          <dgm:chMax val="1"/>
          <dgm:chPref val="1"/>
        </dgm:presLayoutVars>
      </dgm:prSet>
      <dgm:spPr/>
    </dgm:pt>
  </dgm:ptLst>
  <dgm:cxnLst>
    <dgm:cxn modelId="{A9154303-8225-4248-91DC-1B0156A35F07}" srcId="{01A66772-F185-4D58-B8BB-E9370D7A7A2B}" destId="{49225C73-1633-42F1-AB3B-7CB183E5F8B8}" srcOrd="1" destOrd="0" parTransId="{1A0E2090-1D4F-438A-8766-B6030CE01ADD}" sibTransId="{9646853A-8964-4519-A5B1-0B7D18B2983D}"/>
    <dgm:cxn modelId="{BA953D32-2DFF-47FE-AF26-C6B9E63D38DF}" type="presOf" srcId="{49225C73-1633-42F1-AB3B-7CB183E5F8B8}" destId="{20363298-B2A6-463D-A7BE-F9F67404E389}" srcOrd="0" destOrd="0" presId="urn:microsoft.com/office/officeart/2018/5/layout/IconLeafLabelList"/>
    <dgm:cxn modelId="{EC450542-0ED9-4BD6-9E85-5709B80794C5}" type="presOf" srcId="{01A66772-F185-4D58-B8BB-E9370D7A7A2B}" destId="{B6056BFB-47D7-4C5F-BA11-2CB63C56A52D}" srcOrd="0" destOrd="0" presId="urn:microsoft.com/office/officeart/2018/5/layout/IconLeafLabelList"/>
    <dgm:cxn modelId="{C7AD8469-3C68-4AF9-AB82-79B0043AA120}" srcId="{01A66772-F185-4D58-B8BB-E9370D7A7A2B}" destId="{40FC4FFE-8987-4A26-B7F4-8A516F18ADAE}" srcOrd="0" destOrd="0" parTransId="{CAD7EF86-FB23-41F6-BF42-040B36DEFDB1}" sibTransId="{5B62599A-5C9B-48E7-896E-EA782AC60C8B}"/>
    <dgm:cxn modelId="{C4CCE57E-E871-46D6-BAD5-880252C95D22}" srcId="{01A66772-F185-4D58-B8BB-E9370D7A7A2B}" destId="{1C383F32-22E8-4F62-A3E0-BDC3D5F48992}" srcOrd="2" destOrd="0" parTransId="{A7920A2F-3244-4159-AF04-6A1D38B7B317}" sibTransId="{8500F72A-2C6D-4FDF-9C1D-CA691380EB0B}"/>
    <dgm:cxn modelId="{D55FAE9C-CF3C-44F3-9D1E-DE6DF574E6D9}" type="presOf" srcId="{1C383F32-22E8-4F62-A3E0-BDC3D5F48992}" destId="{AB9CAFAA-6939-48A6-A89B-19D1A94B9EA1}" srcOrd="0" destOrd="0" presId="urn:microsoft.com/office/officeart/2018/5/layout/IconLeafLabelList"/>
    <dgm:cxn modelId="{A85983B4-FADF-419C-BC71-B5F0871C3055}" type="presOf" srcId="{40FC4FFE-8987-4A26-B7F4-8A516F18ADAE}" destId="{08F4E96D-0DB6-4476-8C51-7CC7EC2F227B}" srcOrd="0" destOrd="0" presId="urn:microsoft.com/office/officeart/2018/5/layout/IconLeafLabelList"/>
    <dgm:cxn modelId="{A3E74EE8-8900-4EBD-8983-3BF0AFD6DCC7}" type="presParOf" srcId="{B6056BFB-47D7-4C5F-BA11-2CB63C56A52D}" destId="{311B26C8-22B1-4363-B621-DD56FB7418C8}" srcOrd="0" destOrd="0" presId="urn:microsoft.com/office/officeart/2018/5/layout/IconLeafLabelList"/>
    <dgm:cxn modelId="{044EA9E0-B51B-492A-BE32-015CEAD0BAC9}" type="presParOf" srcId="{311B26C8-22B1-4363-B621-DD56FB7418C8}" destId="{A201D7A7-914C-4D24-8B82-EE40155AB0BE}" srcOrd="0" destOrd="0" presId="urn:microsoft.com/office/officeart/2018/5/layout/IconLeafLabelList"/>
    <dgm:cxn modelId="{08373EC6-14CB-429D-9495-F32683B931D7}" type="presParOf" srcId="{311B26C8-22B1-4363-B621-DD56FB7418C8}" destId="{8FA2F131-CD01-4CBD-B7A5-1B9B5E7F0402}" srcOrd="1" destOrd="0" presId="urn:microsoft.com/office/officeart/2018/5/layout/IconLeafLabelList"/>
    <dgm:cxn modelId="{9AB500F0-62A2-4E73-B4F4-5056804C8D6A}" type="presParOf" srcId="{311B26C8-22B1-4363-B621-DD56FB7418C8}" destId="{F755F00C-B2DB-4097-B4BC-8F1BACC938B7}" srcOrd="2" destOrd="0" presId="urn:microsoft.com/office/officeart/2018/5/layout/IconLeafLabelList"/>
    <dgm:cxn modelId="{676606A7-6564-4CEB-ACE0-4FF9A3A04E67}" type="presParOf" srcId="{311B26C8-22B1-4363-B621-DD56FB7418C8}" destId="{08F4E96D-0DB6-4476-8C51-7CC7EC2F227B}" srcOrd="3" destOrd="0" presId="urn:microsoft.com/office/officeart/2018/5/layout/IconLeafLabelList"/>
    <dgm:cxn modelId="{EAE0F94A-A454-4049-84F7-9EC90E847A03}" type="presParOf" srcId="{B6056BFB-47D7-4C5F-BA11-2CB63C56A52D}" destId="{5AB3C10D-885E-4522-AB39-7ED4318D191A}" srcOrd="1" destOrd="0" presId="urn:microsoft.com/office/officeart/2018/5/layout/IconLeafLabelList"/>
    <dgm:cxn modelId="{B0B5B21A-5ADD-4500-9A67-9B26AF543EBA}" type="presParOf" srcId="{B6056BFB-47D7-4C5F-BA11-2CB63C56A52D}" destId="{2F278BF9-E1B2-4A1C-B065-C19A7B904219}" srcOrd="2" destOrd="0" presId="urn:microsoft.com/office/officeart/2018/5/layout/IconLeafLabelList"/>
    <dgm:cxn modelId="{11FEAF2C-54F7-4E9C-A1D6-5FA0BF7F3665}" type="presParOf" srcId="{2F278BF9-E1B2-4A1C-B065-C19A7B904219}" destId="{543C18BC-1989-44B2-9862-C670C61D3452}" srcOrd="0" destOrd="0" presId="urn:microsoft.com/office/officeart/2018/5/layout/IconLeafLabelList"/>
    <dgm:cxn modelId="{92C17ECB-A80D-4A0E-95CF-40A53D32275F}" type="presParOf" srcId="{2F278BF9-E1B2-4A1C-B065-C19A7B904219}" destId="{E94F35BC-9C76-400A-BBCA-0032259E2E5A}" srcOrd="1" destOrd="0" presId="urn:microsoft.com/office/officeart/2018/5/layout/IconLeafLabelList"/>
    <dgm:cxn modelId="{54E5AE33-4BE6-44E7-871B-1103A0BA7A56}" type="presParOf" srcId="{2F278BF9-E1B2-4A1C-B065-C19A7B904219}" destId="{503A6D04-9ADD-43CC-9847-497CD48F2D11}" srcOrd="2" destOrd="0" presId="urn:microsoft.com/office/officeart/2018/5/layout/IconLeafLabelList"/>
    <dgm:cxn modelId="{3575FCA0-4FCE-460A-8D84-2C767D311A20}" type="presParOf" srcId="{2F278BF9-E1B2-4A1C-B065-C19A7B904219}" destId="{20363298-B2A6-463D-A7BE-F9F67404E389}" srcOrd="3" destOrd="0" presId="urn:microsoft.com/office/officeart/2018/5/layout/IconLeafLabelList"/>
    <dgm:cxn modelId="{4FD22448-C17B-4C43-BAB3-A0B7AA9BCE0D}" type="presParOf" srcId="{B6056BFB-47D7-4C5F-BA11-2CB63C56A52D}" destId="{A47947BB-708D-4F7E-B072-3C2E42B34B24}" srcOrd="3" destOrd="0" presId="urn:microsoft.com/office/officeart/2018/5/layout/IconLeafLabelList"/>
    <dgm:cxn modelId="{75E30F4F-0E76-457B-9D4F-CDE27C2F7F77}" type="presParOf" srcId="{B6056BFB-47D7-4C5F-BA11-2CB63C56A52D}" destId="{BDCD0AC9-D564-4025-AD8A-36664A6CBE31}" srcOrd="4" destOrd="0" presId="urn:microsoft.com/office/officeart/2018/5/layout/IconLeafLabelList"/>
    <dgm:cxn modelId="{C6A367E7-6A7C-42CB-94E4-8EA78AEF87BF}" type="presParOf" srcId="{BDCD0AC9-D564-4025-AD8A-36664A6CBE31}" destId="{5BDDFF18-9AEC-4E5E-B9AA-33D86F01A63E}" srcOrd="0" destOrd="0" presId="urn:microsoft.com/office/officeart/2018/5/layout/IconLeafLabelList"/>
    <dgm:cxn modelId="{B180CBEB-FA9F-4E52-8CA3-A65CB80BB91B}" type="presParOf" srcId="{BDCD0AC9-D564-4025-AD8A-36664A6CBE31}" destId="{F09AEBFF-D2D3-4FFF-AD65-C3CEAEEB10F2}" srcOrd="1" destOrd="0" presId="urn:microsoft.com/office/officeart/2018/5/layout/IconLeafLabelList"/>
    <dgm:cxn modelId="{170B020E-1E19-4EB4-A72C-4FCF01A7DD7E}" type="presParOf" srcId="{BDCD0AC9-D564-4025-AD8A-36664A6CBE31}" destId="{F2EBFBCF-0520-415A-A886-3C4F90D208EF}" srcOrd="2" destOrd="0" presId="urn:microsoft.com/office/officeart/2018/5/layout/IconLeafLabelList"/>
    <dgm:cxn modelId="{CADD8F7D-722C-42A0-AF21-39A3559F8D7B}" type="presParOf" srcId="{BDCD0AC9-D564-4025-AD8A-36664A6CBE31}" destId="{AB9CAFAA-6939-48A6-A89B-19D1A94B9EA1}"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01D7A7-914C-4D24-8B82-EE40155AB0BE}">
      <dsp:nvSpPr>
        <dsp:cNvPr id="0" name=""/>
        <dsp:cNvSpPr/>
      </dsp:nvSpPr>
      <dsp:spPr>
        <a:xfrm>
          <a:off x="616949" y="340539"/>
          <a:ext cx="1818562" cy="181856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A2F131-CD01-4CBD-B7A5-1B9B5E7F0402}">
      <dsp:nvSpPr>
        <dsp:cNvPr id="0" name=""/>
        <dsp:cNvSpPr/>
      </dsp:nvSpPr>
      <dsp:spPr>
        <a:xfrm>
          <a:off x="1004512" y="728102"/>
          <a:ext cx="1043437" cy="104343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8F4E96D-0DB6-4476-8C51-7CC7EC2F227B}">
      <dsp:nvSpPr>
        <dsp:cNvPr id="0" name=""/>
        <dsp:cNvSpPr/>
      </dsp:nvSpPr>
      <dsp:spPr>
        <a:xfrm>
          <a:off x="35606" y="272554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100000"/>
            </a:lnSpc>
            <a:spcBef>
              <a:spcPct val="0"/>
            </a:spcBef>
            <a:spcAft>
              <a:spcPct val="35000"/>
            </a:spcAft>
            <a:buNone/>
            <a:defRPr cap="all"/>
          </a:pPr>
          <a:r>
            <a:rPr lang="en-IN" sz="3100" b="1" kern="1200" dirty="0"/>
            <a:t>Practicality</a:t>
          </a:r>
          <a:endParaRPr lang="en-US" sz="3100" b="1" kern="1200" dirty="0"/>
        </a:p>
      </dsp:txBody>
      <dsp:txXfrm>
        <a:off x="35606" y="2725540"/>
        <a:ext cx="2981250" cy="720000"/>
      </dsp:txXfrm>
    </dsp:sp>
    <dsp:sp modelId="{543C18BC-1989-44B2-9862-C670C61D3452}">
      <dsp:nvSpPr>
        <dsp:cNvPr id="0" name=""/>
        <dsp:cNvSpPr/>
      </dsp:nvSpPr>
      <dsp:spPr>
        <a:xfrm>
          <a:off x="4119918" y="340539"/>
          <a:ext cx="1818562" cy="181856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4F35BC-9C76-400A-BBCA-0032259E2E5A}">
      <dsp:nvSpPr>
        <dsp:cNvPr id="0" name=""/>
        <dsp:cNvSpPr/>
      </dsp:nvSpPr>
      <dsp:spPr>
        <a:xfrm>
          <a:off x="4507481" y="728102"/>
          <a:ext cx="1043437" cy="1043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0363298-B2A6-463D-A7BE-F9F67404E389}">
      <dsp:nvSpPr>
        <dsp:cNvPr id="0" name=""/>
        <dsp:cNvSpPr/>
      </dsp:nvSpPr>
      <dsp:spPr>
        <a:xfrm>
          <a:off x="3538574" y="272554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100000"/>
            </a:lnSpc>
            <a:spcBef>
              <a:spcPct val="0"/>
            </a:spcBef>
            <a:spcAft>
              <a:spcPct val="35000"/>
            </a:spcAft>
            <a:buNone/>
            <a:defRPr cap="all"/>
          </a:pPr>
          <a:r>
            <a:rPr lang="en-IN" sz="3100" b="1" kern="1200" dirty="0"/>
            <a:t>Customizable</a:t>
          </a:r>
          <a:endParaRPr lang="en-US" sz="3100" b="1" kern="1200" dirty="0"/>
        </a:p>
      </dsp:txBody>
      <dsp:txXfrm>
        <a:off x="3538574" y="2725540"/>
        <a:ext cx="2981250" cy="720000"/>
      </dsp:txXfrm>
    </dsp:sp>
    <dsp:sp modelId="{5BDDFF18-9AEC-4E5E-B9AA-33D86F01A63E}">
      <dsp:nvSpPr>
        <dsp:cNvPr id="0" name=""/>
        <dsp:cNvSpPr/>
      </dsp:nvSpPr>
      <dsp:spPr>
        <a:xfrm>
          <a:off x="7622887" y="340539"/>
          <a:ext cx="1818562" cy="181856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9AEBFF-D2D3-4FFF-AD65-C3CEAEEB10F2}">
      <dsp:nvSpPr>
        <dsp:cNvPr id="0" name=""/>
        <dsp:cNvSpPr/>
      </dsp:nvSpPr>
      <dsp:spPr>
        <a:xfrm>
          <a:off x="8010450" y="728102"/>
          <a:ext cx="1043437" cy="10434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B9CAFAA-6939-48A6-A89B-19D1A94B9EA1}">
      <dsp:nvSpPr>
        <dsp:cNvPr id="0" name=""/>
        <dsp:cNvSpPr/>
      </dsp:nvSpPr>
      <dsp:spPr>
        <a:xfrm>
          <a:off x="7041543" y="272554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100000"/>
            </a:lnSpc>
            <a:spcBef>
              <a:spcPct val="0"/>
            </a:spcBef>
            <a:spcAft>
              <a:spcPct val="35000"/>
            </a:spcAft>
            <a:buNone/>
            <a:defRPr cap="all"/>
          </a:pPr>
          <a:r>
            <a:rPr lang="en-IN" sz="3100" b="1" kern="1200" dirty="0"/>
            <a:t>Visual Feedback</a:t>
          </a:r>
          <a:endParaRPr lang="en-US" sz="3100" kern="1200" dirty="0"/>
        </a:p>
      </dsp:txBody>
      <dsp:txXfrm>
        <a:off x="7041543" y="2725540"/>
        <a:ext cx="298125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8/4/2025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7293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8/4/2025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38980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8/4/2025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2331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8/4/2025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57611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8/4/2025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2808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8/4/2025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01771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8/4/2025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701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8/4/2025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0130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8/4/2025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8826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8/4/2025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014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452A527-3631-41ED-858D-3777A7D14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peak Pro"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6730000" y="639097"/>
            <a:ext cx="4813072" cy="3494791"/>
          </a:xfrm>
        </p:spPr>
        <p:txBody>
          <a:bodyPr>
            <a:normAutofit/>
          </a:bodyPr>
          <a:lstStyle/>
          <a:p>
            <a:r>
              <a:rPr lang="en-US" sz="6000" dirty="0"/>
              <a:t>LED BLINKING CIRCUIT</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6729999" y="4455621"/>
            <a:ext cx="4829101" cy="1238616"/>
          </a:xfrm>
        </p:spPr>
        <p:txBody>
          <a:bodyPr>
            <a:normAutofit fontScale="62500" lnSpcReduction="20000"/>
          </a:bodyPr>
          <a:lstStyle/>
          <a:p>
            <a:r>
              <a:rPr lang="en-US" sz="3600" b="1" dirty="0"/>
              <a:t>IOT – PROJECT</a:t>
            </a:r>
          </a:p>
          <a:p>
            <a:r>
              <a:rPr lang="en-US" b="1" dirty="0"/>
              <a:t> </a:t>
            </a:r>
          </a:p>
          <a:p>
            <a:r>
              <a:rPr lang="en-US" b="1" dirty="0"/>
              <a:t>                                  presented by- UDAY</a:t>
            </a:r>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 y="10"/>
            <a:ext cx="6096000" cy="6857990"/>
          </a:xfrm>
          <a:prstGeom prst="rect">
            <a:avLst/>
          </a:prstGeom>
        </p:spPr>
      </p:pic>
      <p:cxnSp>
        <p:nvCxnSpPr>
          <p:cNvPr id="26" name="Straight Connector 25">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294754"/>
            <a:ext cx="43891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591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47F5C-50EC-416A-AE8C-6F6BB4225673}"/>
              </a:ext>
            </a:extLst>
          </p:cNvPr>
          <p:cNvSpPr>
            <a:spLocks noGrp="1"/>
          </p:cNvSpPr>
          <p:nvPr>
            <p:ph type="title"/>
          </p:nvPr>
        </p:nvSpPr>
        <p:spPr>
          <a:xfrm>
            <a:off x="1097280" y="286603"/>
            <a:ext cx="10058400" cy="1450757"/>
          </a:xfrm>
        </p:spPr>
        <p:txBody>
          <a:bodyPr>
            <a:normAutofit/>
          </a:bodyPr>
          <a:lstStyle/>
          <a:p>
            <a:r>
              <a:rPr lang="en-US" dirty="0"/>
              <a:t>Smart Doorbell with Multi-LED Feedback</a:t>
            </a:r>
            <a:br>
              <a:rPr lang="en-US" dirty="0"/>
            </a:br>
            <a:endParaRPr lang="en-US" dirty="0"/>
          </a:p>
        </p:txBody>
      </p:sp>
      <p:graphicFrame>
        <p:nvGraphicFramePr>
          <p:cNvPr id="4" name="Content Placeholder 2" descr="SmartArt graphic">
            <a:extLst>
              <a:ext uri="{FF2B5EF4-FFF2-40B4-BE49-F238E27FC236}">
                <a16:creationId xmlns:a16="http://schemas.microsoft.com/office/drawing/2014/main" id="{59F5A1AC-D08D-42AE-B94A-1CAFB517D846}"/>
              </a:ext>
            </a:extLst>
          </p:cNvPr>
          <p:cNvGraphicFramePr>
            <a:graphicFrameLocks noGrp="1"/>
          </p:cNvGraphicFramePr>
          <p:nvPr>
            <p:ph idx="1"/>
            <p:extLst>
              <p:ext uri="{D42A27DB-BD31-4B8C-83A1-F6EECF244321}">
                <p14:modId xmlns:p14="http://schemas.microsoft.com/office/powerpoint/2010/main" val="3430592150"/>
              </p:ext>
            </p:extLst>
          </p:nvPr>
        </p:nvGraphicFramePr>
        <p:xfrm>
          <a:off x="1116628" y="2098515"/>
          <a:ext cx="10058400" cy="37860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5522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883FE-0E06-30D9-4253-66558CE4432B}"/>
              </a:ext>
            </a:extLst>
          </p:cNvPr>
          <p:cNvSpPr>
            <a:spLocks noGrp="1"/>
          </p:cNvSpPr>
          <p:nvPr>
            <p:ph type="title"/>
          </p:nvPr>
        </p:nvSpPr>
        <p:spPr>
          <a:xfrm>
            <a:off x="1097280" y="629266"/>
            <a:ext cx="10058400" cy="1396180"/>
          </a:xfrm>
        </p:spPr>
        <p:txBody>
          <a:bodyPr>
            <a:normAutofit fontScale="90000"/>
          </a:bodyPr>
          <a:lstStyle/>
          <a:p>
            <a:r>
              <a:rPr lang="en-IN" sz="5300" b="1" dirty="0"/>
              <a:t>Objective</a:t>
            </a:r>
            <a:br>
              <a:rPr lang="en-IN" dirty="0"/>
            </a:br>
            <a:endParaRPr lang="en-IN" dirty="0"/>
          </a:p>
        </p:txBody>
      </p:sp>
      <p:sp>
        <p:nvSpPr>
          <p:cNvPr id="3" name="Content Placeholder 2">
            <a:extLst>
              <a:ext uri="{FF2B5EF4-FFF2-40B4-BE49-F238E27FC236}">
                <a16:creationId xmlns:a16="http://schemas.microsoft.com/office/drawing/2014/main" id="{FE10C38B-582D-3033-A71F-C6CE535B7DF4}"/>
              </a:ext>
            </a:extLst>
          </p:cNvPr>
          <p:cNvSpPr>
            <a:spLocks noGrp="1"/>
          </p:cNvSpPr>
          <p:nvPr>
            <p:ph idx="1"/>
          </p:nvPr>
        </p:nvSpPr>
        <p:spPr/>
        <p:txBody>
          <a:bodyPr/>
          <a:lstStyle/>
          <a:p>
            <a:pPr algn="ctr"/>
            <a:r>
              <a:rPr lang="en-US" sz="2800" dirty="0">
                <a:solidFill>
                  <a:schemeClr val="tx1">
                    <a:lumMod val="95000"/>
                    <a:lumOff val="5000"/>
                  </a:schemeClr>
                </a:solidFill>
              </a:rPr>
              <a:t>Create a circuit that functions as a smart doorbell, where pressing a push button triggers LEDs to blink in specific patterns to indicate different states (e.g., doorbell rung, system active, low battery warning). This system is useful for home entrance visitor alerts and provides visually appealing feedback.</a:t>
            </a:r>
          </a:p>
          <a:p>
            <a:endParaRPr lang="en-US" dirty="0">
              <a:solidFill>
                <a:schemeClr val="tx1">
                  <a:lumMod val="95000"/>
                  <a:lumOff val="5000"/>
                </a:schemeClr>
              </a:solidFill>
            </a:endParaRPr>
          </a:p>
          <a:p>
            <a:endParaRPr lang="en-IN" dirty="0"/>
          </a:p>
        </p:txBody>
      </p:sp>
    </p:spTree>
    <p:extLst>
      <p:ext uri="{BB962C8B-B14F-4D97-AF65-F5344CB8AC3E}">
        <p14:creationId xmlns:p14="http://schemas.microsoft.com/office/powerpoint/2010/main" val="3409969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94B53-0609-F4AB-E5A1-F604E331038F}"/>
              </a:ext>
            </a:extLst>
          </p:cNvPr>
          <p:cNvSpPr>
            <a:spLocks noGrp="1"/>
          </p:cNvSpPr>
          <p:nvPr>
            <p:ph type="title"/>
          </p:nvPr>
        </p:nvSpPr>
        <p:spPr/>
        <p:txBody>
          <a:bodyPr/>
          <a:lstStyle/>
          <a:p>
            <a:r>
              <a:rPr lang="en-US" dirty="0"/>
              <a:t>Components Used:</a:t>
            </a:r>
            <a:endParaRPr lang="en-IN" dirty="0"/>
          </a:p>
        </p:txBody>
      </p:sp>
      <p:sp>
        <p:nvSpPr>
          <p:cNvPr id="3" name="TextBox 2">
            <a:extLst>
              <a:ext uri="{FF2B5EF4-FFF2-40B4-BE49-F238E27FC236}">
                <a16:creationId xmlns:a16="http://schemas.microsoft.com/office/drawing/2014/main" id="{ED4D08C6-03A7-56A4-6D52-7C19CB524FD9}"/>
              </a:ext>
            </a:extLst>
          </p:cNvPr>
          <p:cNvSpPr txBox="1"/>
          <p:nvPr/>
        </p:nvSpPr>
        <p:spPr>
          <a:xfrm>
            <a:off x="1238865" y="2349910"/>
            <a:ext cx="9753600" cy="2031325"/>
          </a:xfrm>
          <a:prstGeom prst="rect">
            <a:avLst/>
          </a:prstGeom>
          <a:noFill/>
        </p:spPr>
        <p:txBody>
          <a:bodyPr wrap="square" rtlCol="0">
            <a:spAutoFit/>
          </a:bodyPr>
          <a:lstStyle/>
          <a:p>
            <a:r>
              <a:rPr lang="en-US"/>
              <a:t>❖Essential Components:</a:t>
            </a:r>
          </a:p>
          <a:p>
            <a:r>
              <a:rPr lang="en-US"/>
              <a:t>❖LED (Light Emitting Diode): The component that produces light when current flows</a:t>
            </a:r>
          </a:p>
          <a:p>
            <a:r>
              <a:rPr lang="en-US"/>
              <a:t>through it.</a:t>
            </a:r>
          </a:p>
          <a:p>
            <a:r>
              <a:rPr lang="en-US"/>
              <a:t>❖Resistor: Limits the current flowing through the LED, preventing it from burning out.</a:t>
            </a:r>
          </a:p>
          <a:p>
            <a:r>
              <a:rPr lang="en-US"/>
              <a:t>❖Power Source: Provides the electrical energy to operate the circuit (e.g., battery).</a:t>
            </a:r>
          </a:p>
          <a:p>
            <a:r>
              <a:rPr lang="en-US"/>
              <a:t>❖Jumper Wires: Connects the components on a breadboard or other prototyping</a:t>
            </a:r>
          </a:p>
          <a:p>
            <a:r>
              <a:rPr lang="en-US"/>
              <a:t>platform.</a:t>
            </a:r>
            <a:endParaRPr lang="en-IN" dirty="0"/>
          </a:p>
        </p:txBody>
      </p:sp>
    </p:spTree>
    <p:extLst>
      <p:ext uri="{BB962C8B-B14F-4D97-AF65-F5344CB8AC3E}">
        <p14:creationId xmlns:p14="http://schemas.microsoft.com/office/powerpoint/2010/main" val="1314471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BA917-A0BF-EA4B-9841-02C8F2C80EFD}"/>
              </a:ext>
            </a:extLst>
          </p:cNvPr>
          <p:cNvSpPr>
            <a:spLocks noGrp="1"/>
          </p:cNvSpPr>
          <p:nvPr>
            <p:ph type="title"/>
          </p:nvPr>
        </p:nvSpPr>
        <p:spPr/>
        <p:txBody>
          <a:bodyPr/>
          <a:lstStyle/>
          <a:p>
            <a:r>
              <a:rPr lang="en-US" dirty="0"/>
              <a:t>CIRCUIT DIAGRAM</a:t>
            </a:r>
            <a:endParaRPr lang="en-IN" dirty="0"/>
          </a:p>
        </p:txBody>
      </p:sp>
      <p:pic>
        <p:nvPicPr>
          <p:cNvPr id="4" name="Picture 3">
            <a:extLst>
              <a:ext uri="{FF2B5EF4-FFF2-40B4-BE49-F238E27FC236}">
                <a16:creationId xmlns:a16="http://schemas.microsoft.com/office/drawing/2014/main" id="{E8913E17-9768-1F4E-6E24-C1872B62DDAF}"/>
              </a:ext>
            </a:extLst>
          </p:cNvPr>
          <p:cNvPicPr>
            <a:picLocks noChangeAspect="1"/>
          </p:cNvPicPr>
          <p:nvPr/>
        </p:nvPicPr>
        <p:blipFill>
          <a:blip r:embed="rId2"/>
          <a:stretch>
            <a:fillRect/>
          </a:stretch>
        </p:blipFill>
        <p:spPr>
          <a:xfrm>
            <a:off x="1641986" y="2133600"/>
            <a:ext cx="7077384" cy="4106678"/>
          </a:xfrm>
          <a:prstGeom prst="rect">
            <a:avLst/>
          </a:prstGeom>
        </p:spPr>
      </p:pic>
    </p:spTree>
    <p:extLst>
      <p:ext uri="{BB962C8B-B14F-4D97-AF65-F5344CB8AC3E}">
        <p14:creationId xmlns:p14="http://schemas.microsoft.com/office/powerpoint/2010/main" val="279871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464FF-5501-704E-87EC-FDEA43E3EFDB}"/>
              </a:ext>
            </a:extLst>
          </p:cNvPr>
          <p:cNvSpPr>
            <a:spLocks noGrp="1"/>
          </p:cNvSpPr>
          <p:nvPr>
            <p:ph type="title"/>
          </p:nvPr>
        </p:nvSpPr>
        <p:spPr/>
        <p:txBody>
          <a:bodyPr/>
          <a:lstStyle/>
          <a:p>
            <a:r>
              <a:rPr lang="en-US" dirty="0"/>
              <a:t>Code snippet</a:t>
            </a:r>
            <a:endParaRPr lang="en-IN" dirty="0"/>
          </a:p>
        </p:txBody>
      </p:sp>
      <p:pic>
        <p:nvPicPr>
          <p:cNvPr id="5" name="Picture 4">
            <a:extLst>
              <a:ext uri="{FF2B5EF4-FFF2-40B4-BE49-F238E27FC236}">
                <a16:creationId xmlns:a16="http://schemas.microsoft.com/office/drawing/2014/main" id="{3AB200C5-AC1E-7EC1-16B2-D1DE73DB479B}"/>
              </a:ext>
            </a:extLst>
          </p:cNvPr>
          <p:cNvPicPr>
            <a:picLocks noChangeAspect="1"/>
          </p:cNvPicPr>
          <p:nvPr/>
        </p:nvPicPr>
        <p:blipFill>
          <a:blip r:embed="rId2"/>
          <a:stretch>
            <a:fillRect/>
          </a:stretch>
        </p:blipFill>
        <p:spPr>
          <a:xfrm>
            <a:off x="1097280" y="1839000"/>
            <a:ext cx="4224384" cy="4483142"/>
          </a:xfrm>
          <a:prstGeom prst="rect">
            <a:avLst/>
          </a:prstGeom>
        </p:spPr>
      </p:pic>
      <p:pic>
        <p:nvPicPr>
          <p:cNvPr id="7" name="Picture 6">
            <a:extLst>
              <a:ext uri="{FF2B5EF4-FFF2-40B4-BE49-F238E27FC236}">
                <a16:creationId xmlns:a16="http://schemas.microsoft.com/office/drawing/2014/main" id="{604C8B84-418C-8626-279B-B030C96DD2BD}"/>
              </a:ext>
            </a:extLst>
          </p:cNvPr>
          <p:cNvPicPr>
            <a:picLocks noChangeAspect="1"/>
          </p:cNvPicPr>
          <p:nvPr/>
        </p:nvPicPr>
        <p:blipFill>
          <a:blip r:embed="rId3"/>
          <a:stretch>
            <a:fillRect/>
          </a:stretch>
        </p:blipFill>
        <p:spPr>
          <a:xfrm>
            <a:off x="6545611" y="1682330"/>
            <a:ext cx="4549109" cy="4639812"/>
          </a:xfrm>
          <a:prstGeom prst="rect">
            <a:avLst/>
          </a:prstGeom>
        </p:spPr>
      </p:pic>
    </p:spTree>
    <p:extLst>
      <p:ext uri="{BB962C8B-B14F-4D97-AF65-F5344CB8AC3E}">
        <p14:creationId xmlns:p14="http://schemas.microsoft.com/office/powerpoint/2010/main" val="2235618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D36725-BDF8-065C-8481-CF962F362D55}"/>
              </a:ext>
            </a:extLst>
          </p:cNvPr>
          <p:cNvPicPr>
            <a:picLocks noChangeAspect="1"/>
          </p:cNvPicPr>
          <p:nvPr/>
        </p:nvPicPr>
        <p:blipFill>
          <a:blip r:embed="rId2"/>
          <a:stretch>
            <a:fillRect/>
          </a:stretch>
        </p:blipFill>
        <p:spPr>
          <a:xfrm>
            <a:off x="545574" y="894735"/>
            <a:ext cx="7940894" cy="5293929"/>
          </a:xfrm>
          <a:prstGeom prst="rect">
            <a:avLst/>
          </a:prstGeom>
        </p:spPr>
      </p:pic>
      <p:sp>
        <p:nvSpPr>
          <p:cNvPr id="4" name="TextBox 3">
            <a:extLst>
              <a:ext uri="{FF2B5EF4-FFF2-40B4-BE49-F238E27FC236}">
                <a16:creationId xmlns:a16="http://schemas.microsoft.com/office/drawing/2014/main" id="{35D4DB9E-63A6-5DB4-E29D-712149F97DA8}"/>
              </a:ext>
            </a:extLst>
          </p:cNvPr>
          <p:cNvSpPr txBox="1"/>
          <p:nvPr/>
        </p:nvSpPr>
        <p:spPr>
          <a:xfrm>
            <a:off x="683226" y="68826"/>
            <a:ext cx="6051871" cy="646331"/>
          </a:xfrm>
          <a:prstGeom prst="rect">
            <a:avLst/>
          </a:prstGeom>
          <a:noFill/>
        </p:spPr>
        <p:txBody>
          <a:bodyPr wrap="square" rtlCol="0">
            <a:spAutoFit/>
          </a:bodyPr>
          <a:lstStyle/>
          <a:p>
            <a:r>
              <a:rPr lang="en-US" sz="3600" b="1" dirty="0"/>
              <a:t>After Simulation</a:t>
            </a:r>
            <a:endParaRPr lang="en-IN" sz="3600" b="1" dirty="0"/>
          </a:p>
        </p:txBody>
      </p:sp>
    </p:spTree>
    <p:extLst>
      <p:ext uri="{BB962C8B-B14F-4D97-AF65-F5344CB8AC3E}">
        <p14:creationId xmlns:p14="http://schemas.microsoft.com/office/powerpoint/2010/main" val="3106517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E421FBA-56C6-0BF0-E481-48DBCA4C91AC}"/>
              </a:ext>
            </a:extLst>
          </p:cNvPr>
          <p:cNvSpPr>
            <a:spLocks noGrp="1"/>
          </p:cNvSpPr>
          <p:nvPr>
            <p:ph type="pic" idx="1"/>
          </p:nvPr>
        </p:nvSpPr>
        <p:spPr/>
      </p:sp>
      <p:sp>
        <p:nvSpPr>
          <p:cNvPr id="3" name="Title 2">
            <a:extLst>
              <a:ext uri="{FF2B5EF4-FFF2-40B4-BE49-F238E27FC236}">
                <a16:creationId xmlns:a16="http://schemas.microsoft.com/office/drawing/2014/main" id="{0B67B8A8-B079-4FDD-BBEB-E084AD097FA4}"/>
              </a:ext>
            </a:extLst>
          </p:cNvPr>
          <p:cNvSpPr>
            <a:spLocks noGrp="1"/>
          </p:cNvSpPr>
          <p:nvPr>
            <p:ph type="title"/>
          </p:nvPr>
        </p:nvSpPr>
        <p:spPr/>
        <p:txBody>
          <a:bodyPr/>
          <a:lstStyle/>
          <a:p>
            <a:r>
              <a:rPr lang="en-US" dirty="0"/>
              <a:t>Visual Diagram</a:t>
            </a:r>
            <a:endParaRPr lang="en-IN" dirty="0"/>
          </a:p>
        </p:txBody>
      </p:sp>
      <p:sp>
        <p:nvSpPr>
          <p:cNvPr id="4" name="Text Placeholder 3">
            <a:extLst>
              <a:ext uri="{FF2B5EF4-FFF2-40B4-BE49-F238E27FC236}">
                <a16:creationId xmlns:a16="http://schemas.microsoft.com/office/drawing/2014/main" id="{6DE56446-36D0-3785-0EC7-D0D3A8968BF6}"/>
              </a:ext>
            </a:extLst>
          </p:cNvPr>
          <p:cNvSpPr>
            <a:spLocks noGrp="1"/>
          </p:cNvSpPr>
          <p:nvPr>
            <p:ph type="body" sz="half" idx="2"/>
          </p:nvPr>
        </p:nvSpPr>
        <p:spPr/>
        <p:txBody>
          <a:bodyPr/>
          <a:lstStyle/>
          <a:p>
            <a:r>
              <a:rPr lang="en-US" dirty="0"/>
              <a:t>It shows the connections of circuit</a:t>
            </a:r>
            <a:endParaRPr lang="en-IN" dirty="0"/>
          </a:p>
        </p:txBody>
      </p:sp>
      <p:pic>
        <p:nvPicPr>
          <p:cNvPr id="6" name="Picture 5">
            <a:extLst>
              <a:ext uri="{FF2B5EF4-FFF2-40B4-BE49-F238E27FC236}">
                <a16:creationId xmlns:a16="http://schemas.microsoft.com/office/drawing/2014/main" id="{9E3E2321-B81C-C16C-83BF-D8DAF75FD3EE}"/>
              </a:ext>
            </a:extLst>
          </p:cNvPr>
          <p:cNvPicPr>
            <a:picLocks noChangeAspect="1"/>
          </p:cNvPicPr>
          <p:nvPr/>
        </p:nvPicPr>
        <p:blipFill>
          <a:blip r:embed="rId2"/>
          <a:stretch>
            <a:fillRect/>
          </a:stretch>
        </p:blipFill>
        <p:spPr>
          <a:xfrm>
            <a:off x="403123" y="235974"/>
            <a:ext cx="11277599" cy="4168878"/>
          </a:xfrm>
          <a:prstGeom prst="rect">
            <a:avLst/>
          </a:prstGeom>
        </p:spPr>
      </p:pic>
    </p:spTree>
    <p:extLst>
      <p:ext uri="{BB962C8B-B14F-4D97-AF65-F5344CB8AC3E}">
        <p14:creationId xmlns:p14="http://schemas.microsoft.com/office/powerpoint/2010/main" val="1208834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1C692-F783-864D-2EBE-A55A586C7817}"/>
              </a:ext>
            </a:extLst>
          </p:cNvPr>
          <p:cNvSpPr>
            <a:spLocks noGrp="1"/>
          </p:cNvSpPr>
          <p:nvPr>
            <p:ph type="title" idx="4294967295"/>
          </p:nvPr>
        </p:nvSpPr>
        <p:spPr>
          <a:xfrm>
            <a:off x="2133600" y="287338"/>
            <a:ext cx="10058400" cy="715552"/>
          </a:xfrm>
        </p:spPr>
        <p:txBody>
          <a:bodyPr>
            <a:normAutofit fontScale="90000"/>
          </a:bodyPr>
          <a:lstStyle/>
          <a:p>
            <a:r>
              <a:rPr lang="en-US" dirty="0"/>
              <a:t>Challenges and Solutions</a:t>
            </a:r>
            <a:endParaRPr lang="en-IN" dirty="0"/>
          </a:p>
        </p:txBody>
      </p:sp>
      <p:sp>
        <p:nvSpPr>
          <p:cNvPr id="3" name="TextBox 2">
            <a:extLst>
              <a:ext uri="{FF2B5EF4-FFF2-40B4-BE49-F238E27FC236}">
                <a16:creationId xmlns:a16="http://schemas.microsoft.com/office/drawing/2014/main" id="{147420DA-2F74-ABE5-C495-96632183ABAE}"/>
              </a:ext>
            </a:extLst>
          </p:cNvPr>
          <p:cNvSpPr txBox="1"/>
          <p:nvPr/>
        </p:nvSpPr>
        <p:spPr>
          <a:xfrm>
            <a:off x="319548" y="1219197"/>
            <a:ext cx="11552904" cy="7017306"/>
          </a:xfrm>
          <a:prstGeom prst="rect">
            <a:avLst/>
          </a:prstGeom>
          <a:noFill/>
        </p:spPr>
        <p:txBody>
          <a:bodyPr wrap="square" rtlCol="0">
            <a:spAutoFit/>
          </a:bodyPr>
          <a:lstStyle/>
          <a:p>
            <a:r>
              <a:rPr lang="en-IN" b="1" dirty="0"/>
              <a:t>Challenge: </a:t>
            </a:r>
            <a:r>
              <a:rPr lang="en-IN" dirty="0"/>
              <a:t>Incorrect Push Button Connections</a:t>
            </a:r>
          </a:p>
          <a:p>
            <a:r>
              <a:rPr lang="en-IN" dirty="0"/>
              <a:t>Issue: Wrong pins used (e.g., F27/E29 instead of E27/F29) or F29 connected to resistor.</a:t>
            </a:r>
          </a:p>
          <a:p>
            <a:r>
              <a:rPr lang="en-IN" dirty="0"/>
              <a:t>Solution: Connect E27 → Arduino Pin 2 (green wire), F29 → F30+ (red wire, 5V). Leave F27, E29 unused.</a:t>
            </a:r>
          </a:p>
          <a:p>
            <a:endParaRPr lang="en-IN" dirty="0"/>
          </a:p>
          <a:p>
            <a:r>
              <a:rPr lang="en-IN" b="1" dirty="0"/>
              <a:t>Challenge: </a:t>
            </a:r>
            <a:r>
              <a:rPr lang="en-IN" dirty="0"/>
              <a:t>Resistor Across Central Gap</a:t>
            </a:r>
          </a:p>
          <a:p>
            <a:r>
              <a:rPr lang="en-IN" dirty="0"/>
              <a:t>Issue:10k-ohm resistor from D26 to D30 (across gap, 4-row gap), breaking pull-down circuit.</a:t>
            </a:r>
          </a:p>
          <a:p>
            <a:r>
              <a:rPr lang="en-IN" dirty="0"/>
              <a:t>Solution: Delete resistor. Place new 10k-ohm resistor from D27 to D31- (left side, 4-row gap), connect D31- to ground rail (J2-, black wire).</a:t>
            </a:r>
          </a:p>
          <a:p>
            <a:endParaRPr lang="en-IN" dirty="0"/>
          </a:p>
          <a:p>
            <a:r>
              <a:rPr lang="en-IN" b="1" dirty="0"/>
              <a:t>Challenge</a:t>
            </a:r>
            <a:r>
              <a:rPr lang="en-IN" dirty="0"/>
              <a:t>: LEDs Not Blinking</a:t>
            </a:r>
          </a:p>
          <a:p>
            <a:r>
              <a:rPr lang="en-IN" dirty="0"/>
              <a:t>Issue: Reversed LEDs or wrong resistor values.</a:t>
            </a:r>
          </a:p>
          <a:p>
            <a:r>
              <a:rPr lang="en-IN" dirty="0"/>
              <a:t>Solution: Ensure anode (A1, A5, A9), cathode (B1, B5, B9). Use 220-ohm resistors. Check pins: 13 (Red), 12 (Green), 11 (Yellow).</a:t>
            </a:r>
          </a:p>
          <a:p>
            <a:endParaRPr lang="en-IN" dirty="0"/>
          </a:p>
          <a:p>
            <a:r>
              <a:rPr lang="en-IN" b="1" dirty="0"/>
              <a:t>Challenge: </a:t>
            </a:r>
            <a:r>
              <a:rPr lang="en-IN" dirty="0"/>
              <a:t>Button Not Responding</a:t>
            </a:r>
          </a:p>
          <a:p>
            <a:r>
              <a:rPr lang="en-IN" dirty="0"/>
              <a:t>Issue: Incorrect pull-down resistor or code using INPUT_PULLUP.</a:t>
            </a:r>
          </a:p>
          <a:p>
            <a:r>
              <a:rPr lang="en-IN" dirty="0"/>
              <a:t>Solution: Verify D27 → D31- (10k-ohm). Use code with </a:t>
            </a:r>
            <a:r>
              <a:rPr lang="en-IN" dirty="0" err="1"/>
              <a:t>pinMode</a:t>
            </a:r>
            <a:r>
              <a:rPr lang="en-IN" dirty="0"/>
              <a:t>(</a:t>
            </a:r>
            <a:r>
              <a:rPr lang="en-IN" dirty="0" err="1"/>
              <a:t>buttonPin</a:t>
            </a:r>
            <a:r>
              <a:rPr lang="en-IN" dirty="0"/>
              <a:t>, INPUT). Test button press in simulation.</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405485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18878-AB51-D5F5-AD64-518F2172B81F}"/>
              </a:ext>
            </a:extLst>
          </p:cNvPr>
          <p:cNvSpPr>
            <a:spLocks noGrp="1"/>
          </p:cNvSpPr>
          <p:nvPr>
            <p:ph type="title"/>
          </p:nvPr>
        </p:nvSpPr>
        <p:spPr>
          <a:xfrm>
            <a:off x="1097280" y="796413"/>
            <a:ext cx="10058400" cy="1543663"/>
          </a:xfrm>
        </p:spPr>
        <p:txBody>
          <a:bodyPr>
            <a:normAutofit/>
          </a:bodyPr>
          <a:lstStyle/>
          <a:p>
            <a:pPr algn="ctr"/>
            <a:r>
              <a:rPr lang="en-IN" b="1" u="sng" dirty="0"/>
              <a:t>Conclusion</a:t>
            </a:r>
            <a:br>
              <a:rPr lang="en-IN" dirty="0"/>
            </a:br>
            <a:endParaRPr lang="en-IN" dirty="0"/>
          </a:p>
        </p:txBody>
      </p:sp>
      <p:sp>
        <p:nvSpPr>
          <p:cNvPr id="3" name="TextBox 2">
            <a:extLst>
              <a:ext uri="{FF2B5EF4-FFF2-40B4-BE49-F238E27FC236}">
                <a16:creationId xmlns:a16="http://schemas.microsoft.com/office/drawing/2014/main" id="{DD179B88-89D7-DD9D-C32D-67ED48919AD9}"/>
              </a:ext>
            </a:extLst>
          </p:cNvPr>
          <p:cNvSpPr txBox="1"/>
          <p:nvPr/>
        </p:nvSpPr>
        <p:spPr>
          <a:xfrm>
            <a:off x="1097280" y="2467897"/>
            <a:ext cx="10058400" cy="2031325"/>
          </a:xfrm>
          <a:prstGeom prst="rect">
            <a:avLst/>
          </a:prstGeom>
          <a:noFill/>
        </p:spPr>
        <p:txBody>
          <a:bodyPr wrap="square" rtlCol="0">
            <a:spAutoFit/>
          </a:bodyPr>
          <a:lstStyle/>
          <a:p>
            <a:pPr algn="ctr"/>
            <a:r>
              <a:rPr lang="en-US" dirty="0">
                <a:solidFill>
                  <a:schemeClr val="tx1">
                    <a:lumMod val="95000"/>
                    <a:lumOff val="5000"/>
                  </a:schemeClr>
                </a:solidFill>
              </a:rPr>
              <a:t>The Smart Doorbell with LED Feedback System in </a:t>
            </a:r>
            <a:r>
              <a:rPr lang="en-US" dirty="0" err="1">
                <a:solidFill>
                  <a:schemeClr val="tx1">
                    <a:lumMod val="95000"/>
                    <a:lumOff val="5000"/>
                  </a:schemeClr>
                </a:solidFill>
              </a:rPr>
              <a:t>Tinkercad</a:t>
            </a:r>
            <a:r>
              <a:rPr lang="en-US" dirty="0">
                <a:solidFill>
                  <a:schemeClr val="tx1">
                    <a:lumMod val="95000"/>
                    <a:lumOff val="5000"/>
                  </a:schemeClr>
                </a:solidFill>
              </a:rPr>
              <a:t>, with a 4-pin push button (rows 27-29: F27, E27, F29, E29) and corrected 10k-ohm resistor (D27 to D31-, 4-row gap, left side to ground), successfully delivers visual feedback: Red LED (Pin 13, row 1) blinks 3 times for doorbell rung, Green LED (Pin 12, row 5) stays ON for system active, and Yellow LED (Pin 11, row 9) blinks twice every 10 seconds for low battery. Fixing your issues (resistor across D26-D30, F29 to resistor), the circuit is reliable for home, office, accessibility, and educational use. Challenges like incorrect wiring and resistor placement were resolved with clear connections and code using INPUT</a:t>
            </a:r>
            <a:endParaRPr lang="en-IN" dirty="0">
              <a:solidFill>
                <a:schemeClr val="tx1">
                  <a:lumMod val="95000"/>
                  <a:lumOff val="5000"/>
                </a:schemeClr>
              </a:solidFill>
            </a:endParaRPr>
          </a:p>
        </p:txBody>
      </p:sp>
    </p:spTree>
    <p:extLst>
      <p:ext uri="{BB962C8B-B14F-4D97-AF65-F5344CB8AC3E}">
        <p14:creationId xmlns:p14="http://schemas.microsoft.com/office/powerpoint/2010/main" val="3137608977"/>
      </p:ext>
    </p:extLst>
  </p:cSld>
  <p:clrMapOvr>
    <a:masterClrMapping/>
  </p:clrMapOvr>
</p:sld>
</file>

<file path=ppt/theme/theme1.xml><?xml version="1.0" encoding="utf-8"?>
<a:theme xmlns:a="http://schemas.openxmlformats.org/drawingml/2006/main" name="RetrospectVTI">
  <a:themeElements>
    <a:clrScheme name="">
      <a:dk1>
        <a:srgbClr val="000000"/>
      </a:dk1>
      <a:lt1>
        <a:srgbClr val="FFFFFF"/>
      </a:lt1>
      <a:dk2>
        <a:srgbClr val="243541"/>
      </a:dk2>
      <a:lt2>
        <a:srgbClr val="E2E5E8"/>
      </a:lt2>
      <a:accent1>
        <a:srgbClr val="E88B33"/>
      </a:accent1>
      <a:accent2>
        <a:srgbClr val="AEA33A"/>
      </a:accent2>
      <a:accent3>
        <a:srgbClr val="8CAB4A"/>
      </a:accent3>
      <a:accent4>
        <a:srgbClr val="57B636"/>
      </a:accent4>
      <a:accent5>
        <a:srgbClr val="2EBA43"/>
      </a:accent5>
      <a:accent6>
        <a:srgbClr val="33B67D"/>
      </a:accent6>
      <a:hlink>
        <a:srgbClr val="5F84A8"/>
      </a:hlink>
      <a:folHlink>
        <a:srgbClr val="7F7F7F"/>
      </a:folHlink>
    </a:clrScheme>
    <a:fontScheme name="Retrospect">
      <a:majorFont>
        <a:latin typeface="Georgia Pro Cond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peak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ppt/theme/themeOverride2.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F3CD65D-61A5-43C9-A837-6EC73C7DA8A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31F006B4-A9E1-4F39-85C8-FB836F919348}">
  <ds:schemaRefs>
    <ds:schemaRef ds:uri="http://schemas.microsoft.com/sharepoint/v3/contenttype/forms"/>
  </ds:schemaRefs>
</ds:datastoreItem>
</file>

<file path=customXml/itemProps3.xml><?xml version="1.0" encoding="utf-8"?>
<ds:datastoreItem xmlns:ds="http://schemas.openxmlformats.org/officeDocument/2006/customXml" ds:itemID="{16377351-63A1-4C2E-8C9A-66CDD70F16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{6851491C-A28A-4142-8E89-29463A0CD305}tf11437505_win32</Template>
  <TotalTime>178</TotalTime>
  <Words>524</Words>
  <Application>Microsoft Office PowerPoint</Application>
  <PresentationFormat>Widescreen</PresentationFormat>
  <Paragraphs>47</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Georgia Pro Cond Light</vt:lpstr>
      <vt:lpstr>Speak Pro</vt:lpstr>
      <vt:lpstr>RetrospectVTI</vt:lpstr>
      <vt:lpstr>LED BLINKING CIRCUIT</vt:lpstr>
      <vt:lpstr>Smart Doorbell with Multi-LED Feedback </vt:lpstr>
      <vt:lpstr>Objective </vt:lpstr>
      <vt:lpstr>Components Used:</vt:lpstr>
      <vt:lpstr>CIRCUIT DIAGRAM</vt:lpstr>
      <vt:lpstr>Code snippet</vt:lpstr>
      <vt:lpstr>PowerPoint Presentation</vt:lpstr>
      <vt:lpstr>Visual Diagram</vt:lpstr>
      <vt:lpstr>Challenges and Solutions</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uday .</dc:creator>
  <cp:lastModifiedBy>uday .</cp:lastModifiedBy>
  <cp:revision>1</cp:revision>
  <dcterms:created xsi:type="dcterms:W3CDTF">2025-08-04T10:59:01Z</dcterms:created>
  <dcterms:modified xsi:type="dcterms:W3CDTF">2025-08-04T13:57:54Z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